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F8A5F"/>
                </a:solidFill>
                <a:latin typeface="Calibri"/>
              </a:rPr>
              <a:t>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105156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6000" b="1" i="0">
                <a:solidFill>
                  <a:srgbClr val="181B1A"/>
                </a:solidFill>
                <a:latin typeface="Georgia"/>
              </a:rPr>
              <a:t>FitCoach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06E"/>
                </a:solidFill>
                <a:latin typeface="Calibri"/>
              </a:rPr>
              <a:t>An agentic, multimodal RAG fitness coach — grounded answers, real plans,
built and shipped end-to-end.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3840480" cy="0"/>
          </a:xfrm>
          <a:prstGeom prst="line">
            <a:avLst/>
          </a:prstGeom>
          <a:ln w="9525">
            <a:solidFill>
              <a:srgbClr val="E2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84632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81B1A"/>
                </a:solidFill>
                <a:latin typeface="Calibri"/>
              </a:rPr>
              <a:t>fitcoach-ai-beta.vercel.app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93792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0">
                <a:solidFill>
                  <a:srgbClr val="6B706E"/>
                </a:solidFill>
                <a:latin typeface="Calibri"/>
              </a:rPr>
              <a:t>github.com/Monesh05/fitcoach-ai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881360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81B1A"/>
                </a:solidFill>
                <a:latin typeface="Georgia"/>
              </a:rPr>
              <a:t>Generic chatbots guess. Fitness advice should be grounded.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06E"/>
                </a:solidFill>
                <a:latin typeface="Calibri"/>
              </a:rPr>
              <a:t>Ask ChatGPT for a workout plan and it improvises from training data with no way to check its work. FitCoach AI answers from a real, curated knowledge base — and can see.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4526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Personalized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36392"/>
            <a:ext cx="452628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06E"/>
                </a:solidFill>
                <a:latin typeface="Calibri"/>
              </a:rPr>
              <a:t>Onboarding captures goals, experience, equipment, and diet — the app auto-generates a structured weekly training + nutrition plan from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51460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715768"/>
            <a:ext cx="4526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Grounded 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36392"/>
            <a:ext cx="452628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06E"/>
                </a:solidFill>
                <a:latin typeface="Calibri"/>
              </a:rPr>
              <a:t>Every fitness/nutrition answer is retrieved from a real reference corpus and cited, not just generated from the model's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53128"/>
            <a:ext cx="4526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Multimodal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73752"/>
            <a:ext cx="452628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06E"/>
                </a:solidFill>
                <a:latin typeface="Calibri"/>
              </a:rPr>
              <a:t>Upload a meal photo for a macro estimate, or a lifting-form photo for a technique check — the model actually looks at the image.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425196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453128"/>
            <a:ext cx="4526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Tracks real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873752"/>
            <a:ext cx="452628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06E"/>
                </a:solidFill>
                <a:latin typeface="Calibri"/>
              </a:rPr>
              <a:t>Logs workouts, body weight, and progress photos over time, and can reason about your trend when you ask questions.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End-to-end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3455" y="196596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4623" y="2130552"/>
            <a:ext cx="2020824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81B1A"/>
                </a:solidFill>
                <a:latin typeface="Georgia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623" y="2496312"/>
            <a:ext cx="202082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Chat UI + image upload
(Next.js / Vercel AI SDK)</a:t>
            </a:r>
          </a:p>
        </p:txBody>
      </p:sp>
      <p:sp>
        <p:nvSpPr>
          <p:cNvPr id="8" name="Chevron 7"/>
          <p:cNvSpPr/>
          <p:nvPr/>
        </p:nvSpPr>
        <p:spPr>
          <a:xfrm>
            <a:off x="3151479" y="2574036"/>
            <a:ext cx="274320" cy="201168"/>
          </a:xfrm>
          <a:prstGeom prst="chevron">
            <a:avLst/>
          </a:prstGeom>
          <a:solidFill>
            <a:srgbClr val="6B7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80663" y="196596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1831" y="2130552"/>
            <a:ext cx="2020824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Georgia"/>
              </a:rP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1831" y="2496312"/>
            <a:ext cx="202082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Hybrid RAG: pgvector
+ full-text, fused (RRF)</a:t>
            </a:r>
          </a:p>
        </p:txBody>
      </p:sp>
      <p:sp>
        <p:nvSpPr>
          <p:cNvPr id="12" name="Chevron 11"/>
          <p:cNvSpPr/>
          <p:nvPr/>
        </p:nvSpPr>
        <p:spPr>
          <a:xfrm>
            <a:off x="5958687" y="2574036"/>
            <a:ext cx="274320" cy="201168"/>
          </a:xfrm>
          <a:prstGeom prst="chevron">
            <a:avLst/>
          </a:prstGeom>
          <a:solidFill>
            <a:srgbClr val="6B7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7871" y="196596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9" y="2130552"/>
            <a:ext cx="2020824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F8A5F"/>
                </a:solidFill>
                <a:latin typeface="Georgia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9" y="2496312"/>
            <a:ext cx="202082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12-tool agentic loop
(OpenRouter LLMs)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65895" y="2574036"/>
            <a:ext cx="274320" cy="201168"/>
          </a:xfrm>
          <a:prstGeom prst="chevron">
            <a:avLst/>
          </a:prstGeom>
          <a:solidFill>
            <a:srgbClr val="6B7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95079" y="1965960"/>
            <a:ext cx="2423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247" y="2130552"/>
            <a:ext cx="2020824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81B1A"/>
                </a:solidFill>
                <a:latin typeface="Georgia"/>
              </a:rPr>
              <a:t>Respond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247" y="2496312"/>
            <a:ext cx="2020824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Streamed, cited answer
+ persisted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10515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81B1A"/>
                </a:solidFill>
                <a:latin typeface="Georgia"/>
              </a:rPr>
              <a:t>Storage &amp; 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060704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Supabase (Postgres + pgvector) </a:t>
            </a:r>
            <a:r>
              <a:rPr sz="1300">
                <a:solidFill>
                  <a:srgbClr val="6B706E"/>
                </a:solidFill>
                <a:latin typeface="Calibri"/>
              </a:rPr>
              <a:t>— documents/chunks, chat history, profiles, generated plans, workout/weight/photo logs, all behind Row-Level Security so users only ever see their own data.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Supabase Auth </a:t>
            </a:r>
            <a:r>
              <a:rPr sz="1300">
                <a:solidFill>
                  <a:srgbClr val="6B706E"/>
                </a:solidFill>
                <a:latin typeface="Calibri"/>
              </a:rPr>
              <a:t>— email/password and Google OAuth; session cookies verified on every request via middleware.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Supabase Storage </a:t>
            </a:r>
            <a:r>
              <a:rPr sz="1300">
                <a:solidFill>
                  <a:srgbClr val="6B706E"/>
                </a:solidFill>
                <a:latin typeface="Calibri"/>
              </a:rPr>
              <a:t>— private buckets for uploaded images and progress photos, served through short-lived signed URLs.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OpenRouter </a:t>
            </a:r>
            <a:r>
              <a:rPr sz="1300">
                <a:solidFill>
                  <a:srgbClr val="6B706E"/>
                </a:solidFill>
                <a:latin typeface="Calibri"/>
              </a:rPr>
              <a:t>— LLM gateway so the app runs on free-tier models (text + vision), with a fallback chain per task.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Vercel </a:t>
            </a:r>
            <a:r>
              <a:rPr sz="1300">
                <a:solidFill>
                  <a:srgbClr val="6B706E"/>
                </a:solidFill>
                <a:latin typeface="Calibri"/>
              </a:rPr>
              <a:t>— hosting + CI/CD; every push to main redeploys the production app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THE RETRIEVAL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Hybrid RAG, not a single vector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Text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572000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Vector search </a:t>
            </a:r>
            <a:r>
              <a:rPr sz="1300">
                <a:solidFill>
                  <a:srgbClr val="6B706E"/>
                </a:solidFill>
                <a:latin typeface="Calibri"/>
              </a:rPr>
              <a:t>— pgvector cosine similarity over embedded document chunks (Gemini embeddings).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Full-text search </a:t>
            </a:r>
            <a:r>
              <a:rPr sz="1300">
                <a:solidFill>
                  <a:srgbClr val="6B706E"/>
                </a:solidFill>
                <a:latin typeface="Calibri"/>
              </a:rPr>
              <a:t>— Postgres tsvector/GIN, catching exact-term matches vector search can miss.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Reciprocal Rank Fusion </a:t>
            </a:r>
            <a:r>
              <a:rPr sz="1300">
                <a:solidFill>
                  <a:srgbClr val="6B706E"/>
                </a:solidFill>
                <a:latin typeface="Calibri"/>
              </a:rPr>
              <a:t>— both ranked lists are merged into one, more robust than either alone.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Result: </a:t>
            </a:r>
            <a:r>
              <a:rPr sz="1300">
                <a:solidFill>
                  <a:srgbClr val="6B706E"/>
                </a:solidFill>
                <a:latin typeface="Calibri"/>
              </a:rPr>
              <a:t>answers cite real source chunks instead of the model's raw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Multimodal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4572000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Step 1 </a:t>
            </a:r>
            <a:r>
              <a:rPr sz="1300">
                <a:solidFill>
                  <a:srgbClr val="6B706E"/>
                </a:solidFill>
                <a:latin typeface="Calibri"/>
              </a:rPr>
              <a:t>— an uploaded image (meal, lift, form-check) is sent to a vision model for a text description.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Step 2 </a:t>
            </a:r>
            <a:r>
              <a:rPr sz="1300">
                <a:solidFill>
                  <a:srgbClr val="6B706E"/>
                </a:solidFill>
                <a:latin typeface="Calibri"/>
              </a:rPr>
              <a:t>— that description is used as the retrieval query into the same hybrid RAG pipeline.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Step 3 </a:t>
            </a:r>
            <a:r>
              <a:rPr sz="1300">
                <a:solidFill>
                  <a:srgbClr val="6B706E"/>
                </a:solidFill>
                <a:latin typeface="Calibri"/>
              </a:rPr>
              <a:t>— a second model call answers using the image analysis + retrieved reference material together.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Result: </a:t>
            </a:r>
            <a:r>
              <a:rPr sz="1300">
                <a:solidFill>
                  <a:srgbClr val="6B706E"/>
                </a:solidFill>
                <a:latin typeface="Calibri"/>
              </a:rPr>
              <a:t>"critique my squat" gets checked against real form-coaching content, not guessed.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THE REASONING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An agent with 12 tools, not one big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06E"/>
                </a:solidFill>
                <a:latin typeface="Calibri"/>
              </a:rPr>
              <a:t>The model decides what to do — retrieve documents, look up the user's plan, log a workout, pull recent progress — via a tool-calling loop (Vercel AI SDK), rather than following one fixed script.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2011680" cy="352044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168249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F8A5F"/>
                </a:solidFill>
                <a:latin typeface="Georgia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53512"/>
            <a:ext cx="1682496" cy="2697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Search fitness/nutrition docs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Multimodal image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2331720"/>
            <a:ext cx="2011680" cy="352044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514600"/>
            <a:ext cx="168249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F8A5F"/>
                </a:solidFill>
                <a:latin typeface="Georgia"/>
              </a:rPr>
              <a:t>User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953512"/>
            <a:ext cx="1682496" cy="2697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Read profile &amp; goals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Read active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2331720"/>
            <a:ext cx="2011680" cy="352044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2514600"/>
            <a:ext cx="168249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F8A5F"/>
                </a:solidFill>
                <a:latin typeface="Georgia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2953512"/>
            <a:ext cx="1682496" cy="2697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Log workout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Log body weight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Log progress photo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Read recent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888" y="2331720"/>
            <a:ext cx="2011680" cy="352044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2514600"/>
            <a:ext cx="168249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F8A5F"/>
                </a:solidFill>
                <a:latin typeface="Georgia"/>
              </a:rPr>
              <a:t>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953512"/>
            <a:ext cx="1682496" cy="2697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Generate a new plan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Update targets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0304" y="2331720"/>
            <a:ext cx="2011680" cy="3520440"/>
          </a:xfrm>
          <a:prstGeom prst="roundRect">
            <a:avLst>
              <a:gd name="adj" fmla="val 6000"/>
            </a:avLst>
          </a:prstGeom>
          <a:solidFill>
            <a:srgbClr val="E6F3EC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2514600"/>
            <a:ext cx="1682496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 i="0">
                <a:solidFill>
                  <a:srgbClr val="1F8A5F"/>
                </a:solidFill>
                <a:latin typeface="Georgia"/>
              </a:rPr>
              <a:t>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953512"/>
            <a:ext cx="1682496" cy="2697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Guardrail / refusal checks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80" b="1">
                <a:solidFill>
                  <a:srgbClr val="1F8A5F"/>
                </a:solidFill>
                <a:latin typeface="Calibri"/>
              </a:rPr>
              <a:t>›  </a:t>
            </a:r>
            <a:r>
              <a:rPr sz="1080">
                <a:solidFill>
                  <a:srgbClr val="181B1A"/>
                </a:solidFill>
                <a:latin typeface="Calibri"/>
              </a:rPr>
              <a:t>Rate-limit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What the user actually sees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892808"/>
            <a:ext cx="146304" cy="146304"/>
          </a:xfrm>
          <a:prstGeom prst="ellipse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208483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81B1A"/>
                </a:solidFill>
                <a:latin typeface="Georgia"/>
              </a:rPr>
              <a:t>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32888"/>
            <a:ext cx="2084832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Goals, experience, equipment, diet — captured once, refined anytime from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1691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10712" y="1892808"/>
            <a:ext cx="146304" cy="146304"/>
          </a:xfrm>
          <a:prstGeom prst="ellipse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148840"/>
            <a:ext cx="208483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81B1A"/>
                </a:solidFill>
                <a:latin typeface="Georgia"/>
              </a:rPr>
              <a:t>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532888"/>
            <a:ext cx="2084832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Streaming, markdown-formatted answers with citation chips, image attach, and drag-and-drop.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1691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71616" y="1892808"/>
            <a:ext cx="146304" cy="146304"/>
          </a:xfrm>
          <a:prstGeom prst="ellipse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148840"/>
            <a:ext cx="208483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81B1A"/>
                </a:solidFill>
                <a:latin typeface="Georgia"/>
              </a:rPr>
              <a:t>My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532888"/>
            <a:ext cx="2084832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Auto-generated weekly training + nutrition plans, saved and browsable.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31352" y="1691640"/>
            <a:ext cx="248716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32520" y="1892808"/>
            <a:ext cx="146304" cy="146304"/>
          </a:xfrm>
          <a:prstGeom prst="ellipse">
            <a:avLst/>
          </a:prstGeom>
          <a:solidFill>
            <a:srgbClr val="1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48840"/>
            <a:ext cx="2084832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81B1A"/>
                </a:solidFill>
                <a:latin typeface="Georgia"/>
              </a:rPr>
              <a:t>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532888"/>
            <a:ext cx="2084832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06E"/>
                </a:solidFill>
                <a:latin typeface="Calibri"/>
              </a:rPr>
              <a:t>Weight trend, workout log, and progress photos in one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10515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 i="0">
                <a:solidFill>
                  <a:srgbClr val="181B1A"/>
                </a:solidFill>
                <a:latin typeface="Georgia"/>
              </a:rPr>
              <a:t>Design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106070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06E"/>
                </a:solidFill>
                <a:latin typeface="Calibri"/>
              </a:rPr>
              <a:t>A single unified app shell (sidebar + mobile nav) shared across every authenticated page, built on a restrained near-black / off-white palette with one green accent reserved for primary actions and progress — deliberately not another neon "AI startup" template.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Evaluated, not just vibe-checked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Eval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572000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89 / 89 </a:t>
            </a:r>
            <a:r>
              <a:rPr sz="1300">
                <a:solidFill>
                  <a:srgbClr val="6B706E"/>
                </a:solidFill>
                <a:latin typeface="Calibri"/>
              </a:rPr>
              <a:t>hand-verified test items passing across retrieval and generation.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LLM-as-judge </a:t>
            </a:r>
            <a:r>
              <a:rPr sz="1300">
                <a:solidFill>
                  <a:srgbClr val="6B706E"/>
                </a:solidFill>
                <a:latin typeface="Calibri"/>
              </a:rPr>
              <a:t>scoring for faithfulness (is the answer grounded?) and safety.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Recall@K / MRR </a:t>
            </a:r>
            <a:r>
              <a:rPr sz="1300">
                <a:solidFill>
                  <a:srgbClr val="6B706E"/>
                </a:solidFill>
                <a:latin typeface="Calibri"/>
              </a:rPr>
              <a:t>measured for the retrieval layer specifically, not just end-to-end vibes.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Resumable runs </a:t>
            </a:r>
            <a:r>
              <a:rPr sz="1300">
                <a:solidFill>
                  <a:srgbClr val="6B706E"/>
                </a:solidFill>
                <a:latin typeface="Calibri"/>
              </a:rPr>
              <a:t>— checkpointed so a multi-day eval survives free-tier rate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4572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81B1A"/>
                </a:solidFill>
                <a:latin typeface="Georgia"/>
              </a:rPr>
              <a:t>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4572000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Prompt-level </a:t>
            </a:r>
            <a:r>
              <a:rPr sz="1300">
                <a:solidFill>
                  <a:srgbClr val="6B706E"/>
                </a:solidFill>
                <a:latin typeface="Calibri"/>
              </a:rPr>
              <a:t>instructions constrain scope and tone (no medical diagnoses, no unsafe programming).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Deterministic pattern layer </a:t>
            </a:r>
            <a:r>
              <a:rPr sz="1300">
                <a:solidFill>
                  <a:srgbClr val="6B706E"/>
                </a:solidFill>
                <a:latin typeface="Calibri"/>
              </a:rPr>
              <a:t>catches unsafe requests the prompt alone might miss.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Per-user rate limiting </a:t>
            </a:r>
            <a:r>
              <a:rPr sz="1300">
                <a:solidFill>
                  <a:srgbClr val="6B706E"/>
                </a:solidFill>
                <a:latin typeface="Calibri"/>
              </a:rPr>
              <a:t>protects shared free-tier API keys from abuse.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1F8A5F"/>
                </a:solidFill>
                <a:latin typeface="Calibri"/>
              </a:rPr>
              <a:t>—  </a:t>
            </a:r>
            <a:r>
              <a:rPr sz="1300" b="1">
                <a:solidFill>
                  <a:srgbClr val="181B1A"/>
                </a:solidFill>
                <a:latin typeface="Calibri"/>
              </a:rPr>
              <a:t>Row-Level Security </a:t>
            </a:r>
            <a:r>
              <a:rPr sz="1300">
                <a:solidFill>
                  <a:srgbClr val="6B706E"/>
                </a:solidFill>
                <a:latin typeface="Calibri"/>
              </a:rPr>
              <a:t>at the database layer as the real access-control boundary, not just app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1" i="0">
                <a:solidFill>
                  <a:srgbClr val="1F8A5F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81B1A"/>
                </a:solidFill>
                <a:latin typeface="Georgia"/>
              </a:rPr>
              <a:t>Built solo, shipped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06E"/>
                </a:solidFill>
                <a:latin typeface="Calibri"/>
              </a:rPr>
              <a:t>Next.js, Vercel AI SDK, Supabase (Postgres + pgvector + Auth + Storage), OpenRouter — running entirely on free-tier infrastructure so it stays live for demos at no ongoing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60704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8A5F"/>
                </a:solidFill>
                <a:latin typeface="Calibri"/>
              </a:rPr>
              <a:t>—  </a:t>
            </a:r>
            <a:r>
              <a:rPr sz="1500">
                <a:solidFill>
                  <a:srgbClr val="181B1A"/>
                </a:solidFill>
                <a:latin typeface="Calibri"/>
              </a:rPr>
              <a:t>Real retrieval architecture — hybrid search + RRF, not a single embeddings call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8A5F"/>
                </a:solidFill>
                <a:latin typeface="Calibri"/>
              </a:rPr>
              <a:t>—  </a:t>
            </a:r>
            <a:r>
              <a:rPr sz="1500">
                <a:solidFill>
                  <a:srgbClr val="181B1A"/>
                </a:solidFill>
                <a:latin typeface="Calibri"/>
              </a:rPr>
              <a:t>Genuine multimodal grounding, not just an image captioned into a text prompt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8A5F"/>
                </a:solidFill>
                <a:latin typeface="Calibri"/>
              </a:rPr>
              <a:t>—  </a:t>
            </a:r>
            <a:r>
              <a:rPr sz="1500">
                <a:solidFill>
                  <a:srgbClr val="181B1A"/>
                </a:solidFill>
                <a:latin typeface="Calibri"/>
              </a:rPr>
              <a:t>An agentic tool-use loop the model actually drives, not a scripted flow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8A5F"/>
                </a:solidFill>
                <a:latin typeface="Calibri"/>
              </a:rPr>
              <a:t>—  </a:t>
            </a:r>
            <a:r>
              <a:rPr sz="1500">
                <a:solidFill>
                  <a:srgbClr val="181B1A"/>
                </a:solidFill>
                <a:latin typeface="Calibri"/>
              </a:rPr>
              <a:t>Production concerns handled: auth, RLS, rate limits, eval-driven bug fixes, live deploy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46320"/>
            <a:ext cx="4206240" cy="0"/>
          </a:xfrm>
          <a:prstGeom prst="line">
            <a:avLst/>
          </a:prstGeom>
          <a:ln w="9525">
            <a:solidFill>
              <a:srgbClr val="E2E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181B1A"/>
                </a:solidFill>
                <a:latin typeface="Georgia"/>
              </a:rPr>
              <a:t>fitcoach-ai-beta.vercel.app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0">
                <a:solidFill>
                  <a:srgbClr val="6B706E"/>
                </a:solidFill>
                <a:latin typeface="Georgia"/>
              </a:rPr>
              <a:t>github.com/Monesh05/fitcoach-ai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0" i="0">
                <a:solidFill>
                  <a:srgbClr val="6B706E"/>
                </a:solidFill>
                <a:latin typeface="Calibri"/>
              </a:rPr>
              <a:t>FitCoach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900" b="0" i="0">
                <a:solidFill>
                  <a:srgbClr val="6B70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